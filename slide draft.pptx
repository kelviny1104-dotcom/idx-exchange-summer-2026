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MAPE %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000000"/>
                    </a:solidFill>
                    <a:latin typeface="Aptos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&lt; $500K</c:v>
                </c:pt>
                <c:pt idx="1">
                  <c:v>$500K–$750K</c:v>
                </c:pt>
                <c:pt idx="2">
                  <c:v>$750K–$1M</c:v>
                </c:pt>
                <c:pt idx="3">
                  <c:v>$1M–$1.5M</c:v>
                </c:pt>
                <c:pt idx="4">
                  <c:v>$1.5M–$2.5M</c:v>
                </c:pt>
                <c:pt idx="5">
                  <c:v>&gt; $2.5M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81.1</c:v>
                </c:pt>
                <c:pt idx="1">
                  <c:v>14.8</c:v>
                </c:pt>
                <c:pt idx="2">
                  <c:v>13.3</c:v>
                </c:pt>
                <c:pt idx="3">
                  <c:v>13.4</c:v>
                </c:pt>
                <c:pt idx="4">
                  <c:v>15.1</c:v>
                </c:pt>
                <c:pt idx="5">
                  <c:v>19.8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000000"/>
                </a:solidFill>
                <a:latin typeface="Aptos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750" b="0" i="0" u="none" strike="noStrike" kern="1200" baseline="0">
                <a:solidFill>
                  <a:srgbClr val="000000"/>
                </a:solidFill>
                <a:latin typeface="Aptos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30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4bc4f765-9664-4a47-bf28-003ed94a12c2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 w="12700">
            <a:solidFill>
              <a:srgbClr val="FBFAF6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32520" y="594360"/>
            <a:ext cx="2651760" cy="2651760"/>
          </a:xfrm>
          <a:prstGeom prst="arc">
            <a:avLst/>
          </a:prstGeom>
          <a:noFill/>
          <a:ln w="20320">
            <a:solidFill>
              <a:srgbClr val="DCEB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1160" y="960120"/>
            <a:ext cx="1828800" cy="1828800"/>
          </a:xfrm>
          <a:prstGeom prst="arc">
            <a:avLst/>
          </a:prstGeom>
          <a:noFill/>
          <a:ln w="15240">
            <a:solidFill>
              <a:srgbClr val="C9E6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545" y="1664335"/>
            <a:ext cx="7132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062B49"/>
                </a:solidFill>
              </a:rPr>
              <a:t>California Property </a:t>
            </a:r>
            <a:endParaRPr lang="en-US" sz="3500" b="1" dirty="0">
              <a:solidFill>
                <a:srgbClr val="062B49"/>
              </a:solidFill>
            </a:endParaRPr>
          </a:p>
          <a:p>
            <a:pPr marL="0" indent="0">
              <a:buNone/>
            </a:pPr>
            <a:r>
              <a:rPr lang="en-US" sz="3500" b="1" dirty="0">
                <a:solidFill>
                  <a:srgbClr val="062B49"/>
                </a:solidFill>
                <a:sym typeface="+mn-ea"/>
              </a:rPr>
              <a:t>Close Price Prediction</a:t>
            </a:r>
            <a:endParaRPr lang="en-US" sz="3500" dirty="0"/>
          </a:p>
          <a:p>
            <a:pPr marL="0" indent="0">
              <a:buNone/>
            </a:pP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804672" y="2880360"/>
            <a:ext cx="1417320" cy="301752"/>
          </a:xfrm>
          <a:prstGeom prst="roundRect">
            <a:avLst>
              <a:gd name="adj" fmla="val 24242"/>
            </a:avLst>
          </a:prstGeom>
          <a:solidFill>
            <a:srgbClr val="E8F7F2"/>
          </a:solidFill>
          <a:ln w="12700">
            <a:solidFill>
              <a:srgbClr val="E8F7F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948940"/>
            <a:ext cx="1271016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8A6B"/>
                </a:solidFill>
              </a:rPr>
              <a:t>CRMLS sold listings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59152" y="2880360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32304" y="2948940"/>
            <a:ext cx="1636776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F80ED"/>
                </a:solidFill>
              </a:rPr>
              <a:t>Single-family residential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79392" y="2880360"/>
            <a:ext cx="1600200" cy="301752"/>
          </a:xfrm>
          <a:prstGeom prst="roundRect">
            <a:avLst>
              <a:gd name="adj" fmla="val 24242"/>
            </a:avLst>
          </a:prstGeom>
          <a:solidFill>
            <a:srgbClr val="FFF2E6"/>
          </a:solidFill>
          <a:ln w="12700">
            <a:solidFill>
              <a:srgbClr val="FFF2E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52544" y="2948940"/>
            <a:ext cx="1453896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28C28"/>
                </a:solidFill>
              </a:rPr>
              <a:t>Chronological holdout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04672" y="3730752"/>
            <a:ext cx="3931920" cy="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99592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80ED"/>
                </a:solidFill>
              </a:rPr>
              <a:t>Goal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545" y="4343400"/>
            <a:ext cx="6126480" cy="530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01820"/>
                </a:solidFill>
              </a:rPr>
              <a:t>Predict final close price using property characteristics and location context.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80960" y="406908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062B49"/>
          </a:solidFill>
          <a:ln w="12700">
            <a:solidFill>
              <a:srgbClr val="062B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73568" y="434340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BD7F5"/>
                </a:solidFill>
              </a:rPr>
              <a:t>Best verified model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973568" y="4663440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Tuned XGBoost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0080" y="6556248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C6670"/>
                </a:solidFill>
              </a:rPr>
              <a:t>California Close Price Prediction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28832" y="651052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670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21665" y="506222"/>
            <a:ext cx="8961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2B49"/>
                </a:solidFill>
              </a:rPr>
              <a:t>The project is an end-to-end price prediction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670"/>
                </a:solidFill>
              </a:rPr>
              <a:t>The presentation follows the same path as the modeling workflow.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7620">
            <a:solidFill>
              <a:srgbClr val="D9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56248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C6670"/>
                </a:solidFill>
              </a:rPr>
              <a:t>California Close Price Prediction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28832" y="651052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670"/>
                </a:solidFill>
              </a:rPr>
              <a:t>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97280" y="3246120"/>
            <a:ext cx="9784080" cy="0"/>
          </a:xfrm>
          <a:prstGeom prst="line">
            <a:avLst/>
          </a:prstGeom>
          <a:noFill/>
          <a:ln w="19050">
            <a:solidFill>
              <a:srgbClr val="D9E1E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" y="2907792"/>
            <a:ext cx="676656" cy="676656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3072384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1488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2B49"/>
                </a:solidFill>
              </a:rPr>
              <a:t>Data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" y="3886200"/>
            <a:ext cx="2103120" cy="6035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670"/>
                </a:solidFill>
              </a:rPr>
              <a:t>CRMLS sold listings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6670"/>
                </a:solidFill>
              </a:rPr>
              <a:t>filtered to CA single-family homes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54680" y="2907792"/>
            <a:ext cx="676656" cy="676656"/>
          </a:xfrm>
          <a:prstGeom prst="ellipse">
            <a:avLst/>
          </a:prstGeom>
          <a:solidFill>
            <a:srgbClr val="1B8A6B"/>
          </a:solidFill>
          <a:ln w="12700">
            <a:solidFill>
              <a:srgbClr val="1B8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92424" y="3072384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21488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2B49"/>
                </a:solidFill>
              </a:rPr>
              <a:t>Preprocess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423160" y="3886200"/>
            <a:ext cx="2103120" cy="6035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670"/>
                </a:solidFill>
              </a:rPr>
              <a:t>Clean invalid values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6670"/>
                </a:solidFill>
              </a:rPr>
              <a:t>KNN-impute numeric fields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0" y="2907792"/>
            <a:ext cx="676656" cy="67665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24144" y="3072384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1488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2B49"/>
                </a:solidFill>
              </a:rPr>
              <a:t>Features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754880" y="3886200"/>
            <a:ext cx="2103120" cy="6035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670"/>
                </a:solidFill>
              </a:rPr>
              <a:t>Add location, school district,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6670"/>
                </a:solidFill>
              </a:rPr>
              <a:t>time and property ratios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818120" y="2907792"/>
            <a:ext cx="676656" cy="676656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55864" y="3072384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0" y="21488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2B49"/>
                </a:solidFill>
              </a:rPr>
              <a:t>Models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086600" y="3886200"/>
            <a:ext cx="2103120" cy="6035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670"/>
                </a:solidFill>
              </a:rPr>
              <a:t>Linear / tree / forest 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6670"/>
                </a:solidFill>
              </a:rPr>
              <a:t>XGBoost comparison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149840" y="2907792"/>
            <a:ext cx="676656" cy="676656"/>
          </a:xfrm>
          <a:prstGeom prst="ellipse">
            <a:avLst/>
          </a:prstGeom>
          <a:solidFill>
            <a:srgbClr val="1B8A6B"/>
          </a:solidFill>
          <a:ln w="12700">
            <a:solidFill>
              <a:srgbClr val="1B8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87584" y="3072384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46920" y="21488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2B49"/>
                </a:solidFill>
              </a:rPr>
              <a:t>Evaluate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418320" y="3886200"/>
            <a:ext cx="2103120" cy="6035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670"/>
                </a:solidFill>
              </a:rPr>
              <a:t>Time-based June holdout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6670"/>
                </a:solidFill>
              </a:rPr>
              <a:t>plus error diagnostics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05840" y="5074920"/>
            <a:ext cx="9966960" cy="685800"/>
          </a:xfrm>
          <a:prstGeom prst="roundRect">
            <a:avLst>
              <a:gd name="adj" fmla="val 10667"/>
            </a:avLst>
          </a:prstGeom>
          <a:solidFill>
            <a:srgbClr val="EAF4FF"/>
          </a:solidFill>
          <a:ln w="12700">
            <a:solidFill>
              <a:srgbClr val="D9E1E8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" y="5074920"/>
            <a:ext cx="54864" cy="6858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34440" y="5239512"/>
            <a:ext cx="9646920" cy="4114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</a:rPr>
              <a:t>Main message: the strongest result comes from combining careful MLS data cleaning with richer location and temporal features, then using a tuned gradient-boosting model.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579247"/>
            <a:ext cx="8961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2B49"/>
                </a:solidFill>
              </a:rPr>
              <a:t>Dataset: sold California single-family residential properties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345057"/>
            <a:ext cx="10789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670"/>
                </a:solidFill>
              </a:rPr>
              <a:t>The split is chronological: train on historical months and test on the newest unseen month.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7620">
            <a:solidFill>
              <a:srgbClr val="D9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56248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C6670"/>
                </a:solidFill>
              </a:rPr>
              <a:t>California Close Price Prediction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28832" y="651052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670"/>
                </a:solidFill>
              </a:rPr>
              <a:t>03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ED"/>
                </a:solidFill>
              </a:rPr>
              <a:t>Total cleaned observations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496312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2B49"/>
                </a:solidFill>
              </a:rPr>
              <a:t>154,680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670"/>
                </a:solidFill>
              </a:rPr>
              <a:t>after filtering and preprocessing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83280" y="214884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8A6B"/>
                </a:solidFill>
              </a:rPr>
              <a:t>Training rows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2496312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2B49"/>
                </a:solidFill>
              </a:rPr>
              <a:t>141,823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83280" y="297180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670"/>
                </a:solidFill>
              </a:rPr>
              <a:t>May 2025 – May 2026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760720" y="214884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8C28"/>
                </a:solidFill>
              </a:rPr>
              <a:t>Test rows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0" y="2496312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2B49"/>
                </a:solidFill>
              </a:rPr>
              <a:t>12,857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760720" y="297180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670"/>
                </a:solidFill>
              </a:rPr>
              <a:t>June 2026 holdout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001000" y="214884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ED"/>
                </a:solidFill>
              </a:rPr>
              <a:t>Encoded dataset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01000" y="2496312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2B49"/>
                </a:solidFill>
              </a:rPr>
              <a:t>994 cols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001000" y="297180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670"/>
                </a:solidFill>
              </a:rPr>
              <a:t>including metadata columns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22960" y="37033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2B49"/>
                </a:solidFill>
              </a:rPr>
              <a:t>Why time split?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4096512"/>
            <a:ext cx="512064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</a:rPr>
              <a:t>A random split would leak market conditions across time. The June 2026 holdout better tests whether the model can generalize to a future sales month.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3877056"/>
            <a:ext cx="3383280" cy="384048"/>
          </a:xfrm>
          <a:prstGeom prst="rect">
            <a:avLst/>
          </a:prstGeom>
          <a:solidFill>
            <a:srgbClr val="1B8A6B"/>
          </a:solidFill>
          <a:ln w="12700">
            <a:solidFill>
              <a:srgbClr val="1B8A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48088" y="3877056"/>
            <a:ext cx="1097280" cy="38404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3950208"/>
            <a:ext cx="310896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Train: May 2025 – May 2026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948672" y="3950208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Test: Jun 2026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0" y="461772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670"/>
                </a:solidFill>
              </a:rPr>
              <a:t>ClosePrice is the target variable; property type is restricted to Residential / SingleFamilyResidence.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631317"/>
            <a:ext cx="8961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2B49"/>
                </a:solidFill>
              </a:rPr>
              <a:t>Preprocessing focused on leakage control and robust missing-data handling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670"/>
                </a:solidFill>
              </a:rPr>
              <a:t>The most important work was turning messy MLS fields into a reproducible model matrix.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7620">
            <a:solidFill>
              <a:srgbClr val="D9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56248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C6670"/>
                </a:solidFill>
              </a:rPr>
              <a:t>California Close Price Prediction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28832" y="651052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670"/>
                </a:solidFill>
              </a:rPr>
              <a:t>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2176272"/>
            <a:ext cx="210312" cy="21031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199132"/>
            <a:ext cx="137160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43000" y="2148840"/>
            <a:ext cx="3611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2B49"/>
                </a:solidFill>
              </a:rPr>
              <a:t>Filter target population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2395728"/>
            <a:ext cx="36118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C6670"/>
                </a:solidFill>
              </a:rPr>
              <a:t>Kept California residential single-family sale records and defined ClosePrice as the target.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" y="2999232"/>
            <a:ext cx="210312" cy="21031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3022092"/>
            <a:ext cx="137160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43000" y="2971800"/>
            <a:ext cx="3611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2B49"/>
                </a:solidFill>
              </a:rPr>
              <a:t>Clean invalid values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3218688"/>
            <a:ext cx="36118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C6670"/>
                </a:solidFill>
              </a:rPr>
              <a:t>Flagged impossible coordinates, living area, lot size, count fields and extreme target values.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2960" y="3822192"/>
            <a:ext cx="210312" cy="21031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3845052"/>
            <a:ext cx="137160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43000" y="3794760"/>
            <a:ext cx="3611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2B49"/>
                </a:solidFill>
              </a:rPr>
              <a:t>Avoid target leakage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4041648"/>
            <a:ext cx="36118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C6670"/>
                </a:solidFill>
              </a:rPr>
              <a:t>Removed ListPrice / OriginalListPrice from predictive features so the model learns property value drivers.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57800" y="2057400"/>
            <a:ext cx="0" cy="27432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2057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62B49"/>
                </a:solidFill>
              </a:rPr>
              <a:t>KNN imputation highlight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715000" y="2514600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670"/>
                </a:solidFill>
              </a:rPr>
              <a:t>Numeric missing values were imputed from similar properties after scaling.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715000" y="2971800"/>
            <a:ext cx="4572000" cy="1078992"/>
          </a:xfrm>
          <a:prstGeom prst="roundRect">
            <a:avLst>
              <a:gd name="adj" fmla="val 6780"/>
            </a:avLst>
          </a:prstGeom>
          <a:solidFill>
            <a:srgbClr val="E8F7F2"/>
          </a:solidFill>
          <a:ln w="12700">
            <a:solidFill>
              <a:srgbClr val="D9E1E8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15000" y="2971800"/>
            <a:ext cx="54864" cy="1078992"/>
          </a:xfrm>
          <a:prstGeom prst="rect">
            <a:avLst/>
          </a:prstGeom>
          <a:solidFill>
            <a:srgbClr val="1B8A6B"/>
          </a:solidFill>
          <a:ln w="12700">
            <a:solidFill>
              <a:srgbClr val="1B8A6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3136392"/>
            <a:ext cx="4251960" cy="80467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</a:rPr>
              <a:t>StandardScaler → KNNImputer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</a:rPr>
              <a:t>k = 5 · distance-weighted neighbors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</a:rPr>
              <a:t>missing indicators retained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15000" y="440740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2B49"/>
                </a:solidFill>
              </a:rPr>
              <a:t>Categoricals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715000" y="4736592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01820"/>
                </a:solidFill>
              </a:rPr>
              <a:t>Unknown values filled consistently; rare levels grouped using infrequent-category handling to reduce noisy one-hot columns.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518922"/>
            <a:ext cx="8961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2B49"/>
                </a:solidFill>
              </a:rPr>
              <a:t>Feature engineering added market context beyond basic property size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670"/>
                </a:solidFill>
              </a:rPr>
              <a:t>The updated feature set combines property characteristics, location, time, and school-district context.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7620">
            <a:solidFill>
              <a:srgbClr val="D9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56248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C6670"/>
                </a:solidFill>
              </a:rPr>
              <a:t>California Close Price Prediction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28832" y="651052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670"/>
                </a:solidFill>
              </a:rPr>
              <a:t>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2427732"/>
            <a:ext cx="109728" cy="43891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35458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2B49"/>
                </a:solidFill>
              </a:rPr>
              <a:t>Property structure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656332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0"/>
                </a:solidFill>
              </a:rPr>
              <a:t>living area, bedrooms, bathrooms, parking, garage, stories, age, ratios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" y="3204972"/>
            <a:ext cx="109728" cy="438912"/>
          </a:xfrm>
          <a:prstGeom prst="rect">
            <a:avLst/>
          </a:prstGeom>
          <a:solidFill>
            <a:srgbClr val="1B8A6B"/>
          </a:solidFill>
          <a:ln w="12700">
            <a:solidFill>
              <a:srgbClr val="1B8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13182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2B49"/>
                </a:solidFill>
              </a:rPr>
              <a:t>Geography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3433572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0"/>
                </a:solidFill>
              </a:rPr>
              <a:t>latitude/longitude, city/ZIP, county, MLS area and school-district spatial join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4050792"/>
            <a:ext cx="109728" cy="43891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397764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2B49"/>
                </a:solidFill>
              </a:rPr>
              <a:t>Quality / amenities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4297172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0"/>
                </a:solidFill>
              </a:rPr>
              <a:t>pool, view, HOA, new construction and other boolean/categorical signals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20840" y="2057400"/>
            <a:ext cx="4343400" cy="2971800"/>
          </a:xfrm>
          <a:prstGeom prst="roundRect">
            <a:avLst>
              <a:gd name="adj" fmla="val 2462"/>
            </a:avLst>
          </a:prstGeom>
          <a:solidFill>
            <a:srgbClr val="EAF4FF"/>
          </a:solidFill>
          <a:ln w="12700">
            <a:solidFill>
              <a:srgbClr val="CFE0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2395728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2B49"/>
                </a:solidFill>
              </a:rPr>
              <a:t>Final feature matrix 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2834640"/>
            <a:ext cx="14173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80ED"/>
                </a:solidFill>
              </a:rPr>
              <a:t>1,188</a:t>
            </a:r>
            <a:endParaRPr lang="en-US" sz="2700" dirty="0"/>
          </a:p>
        </p:txBody>
      </p:sp>
      <p:sp>
        <p:nvSpPr>
          <p:cNvPr id="24" name="Shape 22"/>
          <p:cNvSpPr/>
          <p:nvPr/>
        </p:nvSpPr>
        <p:spPr>
          <a:xfrm>
            <a:off x="7086600" y="3703320"/>
            <a:ext cx="3474720" cy="0"/>
          </a:xfrm>
          <a:prstGeom prst="line">
            <a:avLst/>
          </a:prstGeom>
          <a:noFill/>
          <a:ln w="12700">
            <a:solidFill>
              <a:srgbClr val="CFE0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4096512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2B49"/>
                </a:solidFill>
              </a:rPr>
              <a:t>Why it matters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86600" y="4407408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1820"/>
                </a:solidFill>
              </a:rPr>
              <a:t>Real-estate value is highly local. School-district and region features help the model capture location premiums that basic property fields miss.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614172"/>
            <a:ext cx="8961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2B49"/>
                </a:solidFill>
              </a:rPr>
              <a:t>Modeling strategy moved from interpretable baselines to boosted trees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670"/>
                </a:solidFill>
              </a:rPr>
              <a:t>Each model answered a different question about model complexity and fit.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7620">
            <a:solidFill>
              <a:srgbClr val="D9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56248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C6670"/>
                </a:solidFill>
              </a:rPr>
              <a:t>California Close Price Prediction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28832" y="651052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670"/>
                </a:solidFill>
              </a:rPr>
              <a:t>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97280" y="1965960"/>
            <a:ext cx="0" cy="3383280"/>
          </a:xfrm>
          <a:prstGeom prst="line">
            <a:avLst/>
          </a:prstGeom>
          <a:noFill/>
          <a:ln w="15240">
            <a:solidFill>
              <a:srgbClr val="D9E1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993392"/>
            <a:ext cx="292608" cy="29260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94767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2B49"/>
                </a:solidFill>
              </a:rPr>
              <a:t>Linear Regression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069080" y="1993392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670"/>
                </a:solidFill>
              </a:rPr>
              <a:t>baseline: how far do simple additive effects go?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60120" y="2706624"/>
            <a:ext cx="292608" cy="292608"/>
          </a:xfrm>
          <a:prstGeom prst="ellipse">
            <a:avLst/>
          </a:prstGeom>
          <a:solidFill>
            <a:srgbClr val="1B8A6B"/>
          </a:solidFill>
          <a:ln w="12700">
            <a:solidFill>
              <a:srgbClr val="1B8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2660904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2B49"/>
                </a:solidFill>
              </a:rPr>
              <a:t>Decision Tree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69080" y="2706624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670"/>
                </a:solidFill>
              </a:rPr>
              <a:t>single non-linear model with easy overfit risk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60120" y="3419856"/>
            <a:ext cx="292608" cy="29260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3374136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2B49"/>
                </a:solidFill>
              </a:rPr>
              <a:t>Random Forest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069080" y="3419856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670"/>
                </a:solidFill>
              </a:rPr>
              <a:t>bagged trees for stable non-linear relationships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60120" y="4133088"/>
            <a:ext cx="292608" cy="29260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08760" y="408736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2B49"/>
                </a:solidFill>
              </a:rPr>
              <a:t>Baseline XGBoost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069080" y="413308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670"/>
                </a:solidFill>
              </a:rPr>
              <a:t>gradient boosting without extensive tuning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60120" y="4846320"/>
            <a:ext cx="292608" cy="292608"/>
          </a:xfrm>
          <a:prstGeom prst="ellipse">
            <a:avLst/>
          </a:prstGeom>
          <a:solidFill>
            <a:srgbClr val="1B8A6B"/>
          </a:solidFill>
          <a:ln w="12700">
            <a:solidFill>
              <a:srgbClr val="1B8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08760" y="4800600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2B49"/>
                </a:solidFill>
              </a:rPr>
              <a:t>Tuned XGBoost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069080" y="484632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670"/>
                </a:solidFill>
              </a:rPr>
              <a:t>best-performing advanced model after light tuning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828800" y="55321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2E6"/>
          </a:solidFill>
          <a:ln w="12700">
            <a:solidFill>
              <a:srgbClr val="D9E1E8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0" y="5532120"/>
            <a:ext cx="54864" cy="59436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57400" y="5696712"/>
            <a:ext cx="7909560" cy="3200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</a:rPr>
              <a:t>Evaluation uses the same chronological holdout logic: training months are historical, and June 2026 is unseen during training.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297680" cy="22860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F80ED"/>
                </a:solidFill>
              </a:rPr>
              <a:t>Week 11 Practice Presentation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8961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2B49"/>
                </a:solidFill>
              </a:rPr>
              <a:t>Result: tuned XGBoost is the strongest verified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670"/>
                </a:solidFill>
              </a:rPr>
              <a:t>Model ranking is based on June holdout Test R² from the aligned Week 7 model comparison.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7620">
            <a:solidFill>
              <a:srgbClr val="D9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56248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C6670"/>
                </a:solidFill>
              </a:rPr>
              <a:t>California Close Price Prediction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28832" y="651052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670"/>
                </a:solidFill>
              </a:rPr>
              <a:t>07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2185416"/>
            <a:ext cx="1691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0"/>
                </a:solidFill>
              </a:rPr>
              <a:t>Tuned XGBoost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88920" y="2221992"/>
            <a:ext cx="3977640" cy="164592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2221992"/>
            <a:ext cx="3449699" cy="164592"/>
          </a:xfrm>
          <a:prstGeom prst="rect">
            <a:avLst/>
          </a:prstGeom>
          <a:solidFill>
            <a:srgbClr val="1B8A6B"/>
          </a:solidFill>
          <a:ln w="12700">
            <a:solidFill>
              <a:srgbClr val="1B8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31152" y="2176272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2B49"/>
                </a:solidFill>
              </a:rPr>
              <a:t>0.5454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8680" y="2688336"/>
            <a:ext cx="1691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0"/>
                </a:solidFill>
              </a:rPr>
              <a:t>Baseline XGBoost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88920" y="2724912"/>
            <a:ext cx="3977640" cy="164592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8920" y="2724912"/>
            <a:ext cx="2502297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31152" y="2679192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2B49"/>
                </a:solidFill>
              </a:rPr>
              <a:t>0.5192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68680" y="3191256"/>
            <a:ext cx="1691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0"/>
                </a:solidFill>
              </a:rPr>
              <a:t>Random Forest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88920" y="3227832"/>
            <a:ext cx="3977640" cy="164592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88920" y="3227832"/>
            <a:ext cx="2364888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31152" y="3182112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2B49"/>
                </a:solidFill>
              </a:rPr>
              <a:t>0.5154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68680" y="3694176"/>
            <a:ext cx="1691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0"/>
                </a:solidFill>
              </a:rPr>
              <a:t>Linear Regression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88920" y="3730752"/>
            <a:ext cx="3977640" cy="164592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88920" y="3730752"/>
            <a:ext cx="1280077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31152" y="3685032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2B49"/>
                </a:solidFill>
              </a:rPr>
              <a:t>0.4854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68680" y="4197096"/>
            <a:ext cx="1691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0"/>
                </a:solidFill>
              </a:rPr>
              <a:t>Decision Tree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88920" y="4233672"/>
            <a:ext cx="3977640" cy="164592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88920" y="4233672"/>
            <a:ext cx="969098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31152" y="4187952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2B49"/>
                </a:solidFill>
              </a:rPr>
              <a:t>0.4768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88920" y="4983480"/>
            <a:ext cx="237744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670"/>
                </a:solidFill>
              </a:rPr>
              <a:t>Test R² scale: 0.45 → 0.56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635240" y="233172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E8F7F2"/>
          </a:solidFill>
          <a:ln w="12700">
            <a:solidFill>
              <a:srgbClr val="D9E1E8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35240" y="2331720"/>
            <a:ext cx="54864" cy="868680"/>
          </a:xfrm>
          <a:prstGeom prst="rect">
            <a:avLst/>
          </a:prstGeom>
          <a:solidFill>
            <a:srgbClr val="1B8A6B"/>
          </a:solidFill>
          <a:ln w="12700">
            <a:solidFill>
              <a:srgbClr val="1B8A6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0" y="2496312"/>
            <a:ext cx="2788920" cy="5943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</a:rPr>
              <a:t>Best model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</a:rPr>
              <a:t>Test R² = 0.5454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635240" y="352044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EAF4FF"/>
          </a:solidFill>
          <a:ln w="12700">
            <a:solidFill>
              <a:srgbClr val="D9E1E8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35240" y="3520440"/>
            <a:ext cx="54864" cy="8686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63840" y="3685032"/>
            <a:ext cx="2788920" cy="5943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</a:rPr>
              <a:t>Improvement vs baseline XGBoost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</a:rPr>
              <a:t>+0.0262 Test R²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635240" y="470916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2B49"/>
                </a:solidFill>
              </a:rPr>
              <a:t>Interpretation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635240" y="5047488"/>
            <a:ext cx="338328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1820"/>
                </a:solidFill>
              </a:rPr>
              <a:t>Boosting handles non-linear location and property interactions better than a linear model or single tree. The holdout score is lower than CV because June is a future-period test, not a random sample.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530352"/>
            <a:ext cx="8961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2B49"/>
                </a:solidFill>
              </a:rPr>
              <a:t>Advanced model tuning selected a moderate-depth XGBoost configuration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670"/>
                </a:solidFill>
              </a:rPr>
              <a:t>The tuned model improved Test R², but the train-test gap suggests room for stronger regularization.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7620">
            <a:solidFill>
              <a:srgbClr val="D9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56248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C6670"/>
                </a:solidFill>
              </a:rPr>
              <a:t>California Close Price Prediction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28832" y="651052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670"/>
                </a:solidFill>
              </a:rPr>
              <a:t>08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ED"/>
                </a:solidFill>
              </a:rPr>
              <a:t>Best CV R²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496312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2B49"/>
                </a:solidFill>
              </a:rPr>
              <a:t>0.7185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68680" y="297180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670"/>
                </a:solidFill>
              </a:rPr>
              <a:t>3-fold time-series CV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154680" y="21488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8A6B"/>
                </a:solidFill>
              </a:rPr>
              <a:t>Train R²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54680" y="2496312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2B49"/>
                </a:solidFill>
              </a:rPr>
              <a:t>0.9476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154680" y="297180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670"/>
                </a:solidFill>
              </a:rPr>
              <a:t>fit on historical data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257800" y="214884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8C28"/>
                </a:solidFill>
              </a:rPr>
              <a:t>Test R²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57800" y="2496312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2B49"/>
                </a:solidFill>
              </a:rPr>
              <a:t>0.5454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257800" y="297180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670"/>
                </a:solidFill>
              </a:rPr>
              <a:t>June 2026 holdout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68680" y="3657600"/>
            <a:ext cx="6035040" cy="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97764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2B49"/>
                </a:solidFill>
              </a:rPr>
              <a:t>Selected hyperparameters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370832"/>
            <a:ext cx="6217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</a:rPr>
              <a:t>max_depth = 6   ·   learning_rate = 0.15   ·   n_estimators = 400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713232"/>
            <a:ext cx="8961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2B49"/>
                </a:solidFill>
              </a:rPr>
              <a:t>Beyond R²: error is lowest in the core price bands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670"/>
                </a:solidFill>
              </a:rPr>
              <a:t>R² is useful for ranking models; percentage error explains practical prediction quality.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7620">
            <a:solidFill>
              <a:srgbClr val="D9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56248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C6670"/>
                </a:solidFill>
              </a:rPr>
              <a:t>California Close Price Prediction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28832" y="651052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670"/>
                </a:solidFill>
              </a:rPr>
              <a:t>09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8C28"/>
                </a:solidFill>
              </a:rPr>
              <a:t>Overall MAPE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404872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2B49"/>
                </a:solidFill>
              </a:rPr>
              <a:t>24.1%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68680" y="288036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670"/>
                </a:solidFill>
              </a:rPr>
              <a:t>mean absolute percentage error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063240" y="205740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8A6B"/>
                </a:solidFill>
              </a:rPr>
              <a:t>Overall MdAPE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63240" y="2404872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2B49"/>
                </a:solidFill>
              </a:rPr>
              <a:t>11.3%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063240" y="288036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670"/>
                </a:solidFill>
              </a:rPr>
              <a:t>median absolute percentage error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394960" y="205740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ED"/>
                </a:solidFill>
              </a:rPr>
              <a:t>Overall MAE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94960" y="2404872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2B49"/>
                </a:solidFill>
              </a:rPr>
              <a:t>$224K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394960" y="288036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670"/>
                </a:solidFill>
              </a:rPr>
              <a:t>average dollar error</a:t>
            </a:r>
            <a:endParaRPr lang="en-US" sz="85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868680" y="3703320"/>
          <a:ext cx="676656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8092440" y="374904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EAF4FF"/>
          </a:solidFill>
          <a:ln w="12700">
            <a:solidFill>
              <a:srgbClr val="D9E1E8">
                <a:alpha val="6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92440" y="3749040"/>
            <a:ext cx="54864" cy="173736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0" y="3913632"/>
            <a:ext cx="2926080" cy="14630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</a:rPr>
              <a:t>Key readout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</a:rPr>
              <a:t>The model is most stable around $500K–$2.5M, where MAPE is roughly 13–15%. Error increases for very low-price and high-end properties.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713232"/>
            <a:ext cx="8961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2B49"/>
                </a:solidFill>
              </a:rPr>
              <a:t>What the results mean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7620">
            <a:solidFill>
              <a:srgbClr val="D9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56248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C6670"/>
                </a:solidFill>
              </a:rPr>
              <a:t>California Close Price Prediction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28832" y="651052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670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80ED"/>
                </a:solidFill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214884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62B49"/>
                </a:solidFill>
              </a:rPr>
              <a:t>Data quality mattered as much as model choice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508760" y="2606040"/>
            <a:ext cx="8778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670"/>
                </a:solidFill>
              </a:rPr>
              <a:t>KNN imputation, missing indicators, rare-category handling and leakage control made the model matrix stable enough for comparison.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8A6B"/>
                </a:solidFill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508760" y="34290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62B49"/>
                </a:solidFill>
              </a:rPr>
              <a:t>Location context improved the feature story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508760" y="3886200"/>
            <a:ext cx="8778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670"/>
                </a:solidFill>
              </a:rPr>
              <a:t>School districts, ZIP / region signals and coordinates help represent local premiums that basic square footage and bed/bath fields cannot fully capture.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47091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8C28"/>
                </a:solidFill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508760" y="470916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62B49"/>
                </a:solidFill>
              </a:rPr>
              <a:t>The best next work is error control, not just a bigger model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508760" y="5166360"/>
            <a:ext cx="8778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670"/>
                </a:solidFill>
              </a:rPr>
              <a:t>The main weaknesses are extreme price bands, abnormal transactions, and the train-test generalization gap.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5734</Words>
  <Application>WPS Presentation</Application>
  <PresentationFormat>On-screen Show (16:9)</PresentationFormat>
  <Paragraphs>330</Paragraphs>
  <Slides>10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Aptos</vt:lpstr>
      <vt:lpstr>Segoe UI</vt:lpstr>
      <vt:lpstr>Microsoft YaHei</vt:lpstr>
      <vt:lpstr>Arial Unicode MS</vt:lpstr>
      <vt:lpstr>Aptos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IDX Exchange Project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California Property Close Price Prediction</dc:title>
  <dc:creator>OpenAI</dc:creator>
  <dc:subject>Week 11 Practice Presentation</dc:subject>
  <cp:lastModifiedBy>SI SHI</cp:lastModifiedBy>
  <cp:revision>2</cp:revision>
  <dcterms:created xsi:type="dcterms:W3CDTF">2026-08-26T12:42:00Z</dcterms:created>
  <dcterms:modified xsi:type="dcterms:W3CDTF">2026-08-26T21:15:27Z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7CEC3457BA2C4D5C8F0ED4DF4CB43C60_13</vt:lpwstr>
  </property>
  <property fmtid="{D5CDD505-2E9C-101B-9397-08002B2CF9AE}" pid="3" name="KSOProductBuildVer">
    <vt:lpwstr>1033-12.1.0.28032</vt:lpwstr>
  </property>
</Properties>
</file>